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slide" Target="slides/slide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2.xml"/><Relationship Id="rId18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9.png"/><Relationship Id="rId13" Type="http://schemas.openxmlformats.org/officeDocument/2006/relationships/image" Target="../media/image1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3.png"/><Relationship Id="rId4" Type="http://schemas.openxmlformats.org/officeDocument/2006/relationships/image" Target="../media/image17.png"/><Relationship Id="rId9" Type="http://schemas.openxmlformats.org/officeDocument/2006/relationships/image" Target="../media/image5.png"/><Relationship Id="rId15" Type="http://schemas.openxmlformats.org/officeDocument/2006/relationships/image" Target="../media/image26.png"/><Relationship Id="rId1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8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37.png"/><Relationship Id="rId13" Type="http://schemas.openxmlformats.org/officeDocument/2006/relationships/image" Target="../media/image46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9" Type="http://schemas.openxmlformats.org/officeDocument/2006/relationships/image" Target="../media/image32.png"/><Relationship Id="rId15" Type="http://schemas.openxmlformats.org/officeDocument/2006/relationships/image" Target="../media/image27.png"/><Relationship Id="rId14" Type="http://schemas.openxmlformats.org/officeDocument/2006/relationships/image" Target="../media/image40.png"/><Relationship Id="rId5" Type="http://schemas.openxmlformats.org/officeDocument/2006/relationships/image" Target="../media/image67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Relationship Id="rId8" Type="http://schemas.openxmlformats.org/officeDocument/2006/relationships/image" Target="../media/image3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31.png"/><Relationship Id="rId6" Type="http://schemas.openxmlformats.org/officeDocument/2006/relationships/image" Target="../media/image42.png"/><Relationship Id="rId7" Type="http://schemas.openxmlformats.org/officeDocument/2006/relationships/image" Target="../media/image52.png"/><Relationship Id="rId8" Type="http://schemas.openxmlformats.org/officeDocument/2006/relationships/image" Target="../media/image6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9" Type="http://schemas.openxmlformats.org/officeDocument/2006/relationships/image" Target="../media/image57.png"/><Relationship Id="rId5" Type="http://schemas.openxmlformats.org/officeDocument/2006/relationships/image" Target="../media/image54.png"/><Relationship Id="rId6" Type="http://schemas.openxmlformats.org/officeDocument/2006/relationships/image" Target="../media/image51.png"/><Relationship Id="rId7" Type="http://schemas.openxmlformats.org/officeDocument/2006/relationships/image" Target="../media/image48.png"/><Relationship Id="rId8" Type="http://schemas.openxmlformats.org/officeDocument/2006/relationships/image" Target="../media/image6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9" Type="http://schemas.openxmlformats.org/officeDocument/2006/relationships/image" Target="../media/image62.png"/><Relationship Id="rId5" Type="http://schemas.openxmlformats.org/officeDocument/2006/relationships/image" Target="../media/image59.png"/><Relationship Id="rId6" Type="http://schemas.openxmlformats.org/officeDocument/2006/relationships/image" Target="../media/image74.png"/><Relationship Id="rId7" Type="http://schemas.openxmlformats.org/officeDocument/2006/relationships/image" Target="../media/image50.png"/><Relationship Id="rId8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9" Type="http://schemas.openxmlformats.org/officeDocument/2006/relationships/image" Target="../media/image72.png"/><Relationship Id="rId5" Type="http://schemas.openxmlformats.org/officeDocument/2006/relationships/image" Target="../media/image75.png"/><Relationship Id="rId6" Type="http://schemas.openxmlformats.org/officeDocument/2006/relationships/image" Target="../media/image60.png"/><Relationship Id="rId7" Type="http://schemas.openxmlformats.org/officeDocument/2006/relationships/image" Target="../media/image69.png"/><Relationship Id="rId8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953098" y="-952805"/>
            <a:ext cx="5715000" cy="57150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F0FDF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3">
            <a:alphaModFix/>
          </a:blip>
          <a:srcRect b="-5" l="0" r="0" t="-5"/>
          <a:stretch/>
        </p:blipFill>
        <p:spPr>
          <a:xfrm>
            <a:off x="571500" y="2048256"/>
            <a:ext cx="5333695" cy="44293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4">
            <a:alphaModFix/>
          </a:blip>
          <a:srcRect b="-5" l="0" r="0" t="-5"/>
          <a:stretch/>
        </p:blipFill>
        <p:spPr>
          <a:xfrm>
            <a:off x="6286500" y="2048256"/>
            <a:ext cx="5333695" cy="44293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5">
            <a:alphaModFix/>
          </a:blip>
          <a:srcRect b="0" l="-2078" r="-2078" t="0"/>
          <a:stretch/>
        </p:blipFill>
        <p:spPr>
          <a:xfrm>
            <a:off x="857257" y="3024832"/>
            <a:ext cx="4762196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5">
            <a:alphaModFix/>
          </a:blip>
          <a:srcRect b="0" l="-2078" r="-2078" t="0"/>
          <a:stretch/>
        </p:blipFill>
        <p:spPr>
          <a:xfrm>
            <a:off x="6620332" y="3024808"/>
            <a:ext cx="4764023" cy="1832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857707" y="2333549"/>
            <a:ext cx="457200" cy="457200"/>
          </a:xfrm>
          <a:prstGeom prst="ellipse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57707" y="3191256"/>
            <a:ext cx="457200" cy="457200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857707" y="4000500"/>
            <a:ext cx="457200" cy="457200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57707" y="4809744"/>
            <a:ext cx="457200" cy="457200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57707" y="5619902"/>
            <a:ext cx="457200" cy="457200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572707" y="2333549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572707" y="3191256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572707" y="4000500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572707" y="4809744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572707" y="5619902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571500" y="589805"/>
            <a:ext cx="19815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ПРОЕКТ РЕЕСТР ЗАКУПОК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t/>
            </a:r>
            <a:endParaRPr b="1" sz="900">
              <a:solidFill>
                <a:srgbClr val="6B72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571500" y="875995"/>
            <a:ext cx="11239805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rPr b="1" lang="en-US" sz="3600">
                <a:latin typeface="Montserrat"/>
                <a:ea typeface="Montserrat"/>
                <a:cs typeface="Montserrat"/>
                <a:sym typeface="Montserrat"/>
              </a:rPr>
              <a:t>Проблемы и задачи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571500" y="1524305"/>
            <a:ext cx="111639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Текущая ситуация и задачи автоматизации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3"/>
          <p:cNvPicPr preferRelativeResize="0"/>
          <p:nvPr/>
        </p:nvPicPr>
        <p:blipFill rotWithShape="1">
          <a:blip r:embed="rId6">
            <a:alphaModFix/>
          </a:blip>
          <a:srcRect b="0" l="-1648" r="-1648" t="0"/>
          <a:stretch/>
        </p:blipFill>
        <p:spPr>
          <a:xfrm>
            <a:off x="990295" y="2467051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/>
        </p:nvSpPr>
        <p:spPr>
          <a:xfrm>
            <a:off x="1505102" y="2352751"/>
            <a:ext cx="4210812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Open Sans"/>
              <a:buNone/>
            </a:pPr>
            <a:r>
              <a:rPr b="1" lang="en-US" sz="1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Ключевые п</a:t>
            </a:r>
            <a:r>
              <a:rPr b="1" i="0" lang="en-US" sz="18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роблемы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1505102" y="2704795"/>
            <a:ext cx="42108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ТЕКУЩАЯ СИТУАЦИЯ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3"/>
          <p:cNvPicPr preferRelativeResize="0"/>
          <p:nvPr/>
        </p:nvPicPr>
        <p:blipFill rotWithShape="1">
          <a:blip r:embed="rId7">
            <a:alphaModFix/>
          </a:blip>
          <a:srcRect b="-4167" l="0" r="0" t="-4167"/>
          <a:stretch/>
        </p:blipFill>
        <p:spPr>
          <a:xfrm>
            <a:off x="990295" y="3323844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/>
          <p:nvPr/>
        </p:nvSpPr>
        <p:spPr>
          <a:xfrm>
            <a:off x="1505102" y="319125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9 </a:t>
            </a: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участников 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в процессе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1505102" y="3443630"/>
            <a:ext cx="40773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Руководители подразделений, IT и АХО вовлечены каждый день вручную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3"/>
          <p:cNvPicPr preferRelativeResize="0"/>
          <p:nvPr/>
        </p:nvPicPr>
        <p:blipFill rotWithShape="1">
          <a:blip r:embed="rId8">
            <a:alphaModFix/>
          </a:blip>
          <a:srcRect b="-5319" l="0" r="0" t="-5319"/>
          <a:stretch/>
        </p:blipFill>
        <p:spPr>
          <a:xfrm>
            <a:off x="990295" y="413400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 txBox="1"/>
          <p:nvPr/>
        </p:nvSpPr>
        <p:spPr>
          <a:xfrm>
            <a:off x="1505102" y="400050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Ручное заполнение таблиц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1505102" y="4252874"/>
            <a:ext cx="40773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Руководители вносят данные о питании сотрудник</a:t>
            </a: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ов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зависимость от челове</a:t>
            </a: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ческого фактора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3"/>
          <p:cNvPicPr preferRelativeResize="0"/>
          <p:nvPr/>
        </p:nvPicPr>
        <p:blipFill rotWithShape="1">
          <a:blip r:embed="rId9">
            <a:alphaModFix/>
          </a:blip>
          <a:srcRect b="-5319" l="0" r="0" t="-5319"/>
          <a:stretch/>
        </p:blipFill>
        <p:spPr>
          <a:xfrm>
            <a:off x="990295" y="4943246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 txBox="1"/>
          <p:nvPr/>
        </p:nvSpPr>
        <p:spPr>
          <a:xfrm>
            <a:off x="1505102" y="4809744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IT выгружает прохо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ды</a:t>
            </a: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СКУД вручную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505102" y="5062118"/>
            <a:ext cx="40773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Скачивает фото, сверяет ФИО </a:t>
            </a: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нетривиальный ежедневный процесс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3"/>
          <p:cNvPicPr preferRelativeResize="0"/>
          <p:nvPr/>
        </p:nvPicPr>
        <p:blipFill rotWithShape="1">
          <a:blip r:embed="rId10">
            <a:alphaModFix/>
          </a:blip>
          <a:srcRect b="-5319" l="0" r="0" t="-5319"/>
          <a:stretch/>
        </p:blipFill>
        <p:spPr>
          <a:xfrm>
            <a:off x="990295" y="5753405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 txBox="1"/>
          <p:nvPr/>
        </p:nvSpPr>
        <p:spPr>
          <a:xfrm>
            <a:off x="1505102" y="561990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% 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потерь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505102" y="5872277"/>
            <a:ext cx="40773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Потери $302/мес; если ответственный отсутствует — заказ не формируется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05295" y="2467051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 txBox="1"/>
          <p:nvPr/>
        </p:nvSpPr>
        <p:spPr>
          <a:xfrm>
            <a:off x="7220102" y="2352751"/>
            <a:ext cx="4210812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Open Sans"/>
              <a:buNone/>
            </a:pPr>
            <a:r>
              <a:rPr b="1" lang="en-US" sz="1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Ключевые цели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7220102" y="2704795"/>
            <a:ext cx="42108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ПОСТАВЛЕННЫЕ ЗАДАЧИ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12">
            <a:alphaModFix/>
          </a:blip>
          <a:srcRect b="-4167" l="0" r="0" t="-4167"/>
          <a:stretch/>
        </p:blipFill>
        <p:spPr>
          <a:xfrm>
            <a:off x="6705295" y="3323844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 txBox="1"/>
          <p:nvPr/>
        </p:nvSpPr>
        <p:spPr>
          <a:xfrm>
            <a:off x="7220102" y="319125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 участник вместо 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7220102" y="3443630"/>
            <a:ext cx="40773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Вывести подразделения и IT из ежедневного операционного цикла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13">
            <a:alphaModFix/>
          </a:blip>
          <a:srcRect b="-4167" l="0" r="0" t="-4167"/>
          <a:stretch/>
        </p:blipFill>
        <p:spPr>
          <a:xfrm>
            <a:off x="6705295" y="4134002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/>
        </p:nvSpPr>
        <p:spPr>
          <a:xfrm>
            <a:off x="7220102" y="400050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Заказ 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без ручного труда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7220102" y="4252874"/>
            <a:ext cx="4515307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Ф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ормир</a:t>
            </a: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овать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заказ</a:t>
            </a: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питания</a:t>
            </a: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по данным СКУД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14">
            <a:alphaModFix/>
          </a:blip>
          <a:srcRect b="-5319" l="0" r="0" t="-5319"/>
          <a:stretch/>
        </p:blipFill>
        <p:spPr>
          <a:xfrm>
            <a:off x="6705295" y="4943246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7220102" y="4809744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Снизить ошибки до ~0%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7220102" y="5062118"/>
            <a:ext cx="40773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Делать заказы по фактическим данным, не на базе прогноза руководителей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15">
            <a:alphaModFix/>
          </a:blip>
          <a:srcRect b="-6921" l="0" r="0" t="-6921"/>
          <a:stretch/>
        </p:blipFill>
        <p:spPr>
          <a:xfrm>
            <a:off x="6705295" y="5753405"/>
            <a:ext cx="161849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 txBox="1"/>
          <p:nvPr/>
        </p:nvSpPr>
        <p:spPr>
          <a:xfrm>
            <a:off x="7220102" y="561990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Авто-отчёт в Telegram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7220102" y="5872277"/>
            <a:ext cx="40773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Ежедневный отчёт отправляется без участия сотрудника АХО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571500" y="1999794"/>
            <a:ext cx="5333700" cy="904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905902" y="-952805"/>
            <a:ext cx="5715000" cy="57150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-2909082" y="4079052"/>
            <a:ext cx="3810300" cy="3810300"/>
          </a:xfrm>
          <a:prstGeom prst="ellipse">
            <a:avLst/>
          </a:prstGeom>
          <a:solidFill>
            <a:srgbClr val="F0FDF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71500" y="1952244"/>
            <a:ext cx="5333695" cy="47549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286500" y="1952244"/>
            <a:ext cx="5333695" cy="452445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162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286500" y="1952244"/>
            <a:ext cx="5333695" cy="47549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-2078" r="-2078" t="0"/>
          <a:stretch/>
        </p:blipFill>
        <p:spPr>
          <a:xfrm>
            <a:off x="857257" y="3010196"/>
            <a:ext cx="4762196" cy="1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4"/>
          <p:cNvPicPr preferRelativeResize="0"/>
          <p:nvPr/>
        </p:nvPicPr>
        <p:blipFill rotWithShape="1">
          <a:blip r:embed="rId3">
            <a:alphaModFix/>
          </a:blip>
          <a:srcRect b="0" l="-2078" r="-2078" t="0"/>
          <a:stretch/>
        </p:blipFill>
        <p:spPr>
          <a:xfrm>
            <a:off x="6572707" y="3000146"/>
            <a:ext cx="4762196" cy="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 txBox="1"/>
          <p:nvPr/>
        </p:nvSpPr>
        <p:spPr>
          <a:xfrm>
            <a:off x="571500" y="629107"/>
            <a:ext cx="19815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ПРОЕКТ РЕЕСТР ЗАКУПОК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571500" y="895198"/>
            <a:ext cx="685800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Решение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571500" y="1399946"/>
            <a:ext cx="6782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Сервис по автоматизации питания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57707" y="2286000"/>
            <a:ext cx="457200" cy="457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4">
            <a:alphaModFix/>
          </a:blip>
          <a:srcRect b="-4087" l="0" r="0" t="-4087"/>
          <a:stretch/>
        </p:blipFill>
        <p:spPr>
          <a:xfrm>
            <a:off x="972007" y="2400300"/>
            <a:ext cx="23774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1505102" y="2333549"/>
            <a:ext cx="4210812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Open Sans"/>
              <a:buNone/>
            </a:pPr>
            <a:r>
              <a:rPr b="1" lang="en-US" sz="1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Процесс AS-IS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1505102" y="2628900"/>
            <a:ext cx="42108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Текущий процесс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57707" y="3286354"/>
            <a:ext cx="381305" cy="381305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805" y="339333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 txBox="1"/>
          <p:nvPr/>
        </p:nvSpPr>
        <p:spPr>
          <a:xfrm>
            <a:off x="1505102" y="3286354"/>
            <a:ext cx="4114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Руководители 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→ Прогноз по питанию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1505100" y="3529568"/>
            <a:ext cx="4355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Ежедневно руководители прогнозируют план питания и заполняют таблицу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57707" y="4009644"/>
            <a:ext cx="381305" cy="381305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6">
            <a:alphaModFix/>
          </a:blip>
          <a:srcRect b="-842" l="0" r="0" t="-842"/>
          <a:stretch/>
        </p:blipFill>
        <p:spPr>
          <a:xfrm>
            <a:off x="952805" y="4117543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 txBox="1"/>
          <p:nvPr/>
        </p:nvSpPr>
        <p:spPr>
          <a:xfrm>
            <a:off x="1505102" y="4009644"/>
            <a:ext cx="4114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Руководитель АХО  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→  Заказ питания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1505102" y="4253789"/>
            <a:ext cx="40773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Ежедневный заказ питания, отправка в течение часового диапозона, сжатый формат данных (по диапозонам)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57707" y="4733849"/>
            <a:ext cx="381305" cy="381305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805" y="484083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 txBox="1"/>
          <p:nvPr/>
        </p:nvSpPr>
        <p:spPr>
          <a:xfrm>
            <a:off x="1505102" y="4733849"/>
            <a:ext cx="4114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Выдача питания (без аналитики)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1505100" y="5016775"/>
            <a:ext cx="4355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Повара выдают питание без понимания - среди каких  подразделений, какой объем порций остается невостребованным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572707" y="2286000"/>
            <a:ext cx="457200" cy="457200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4"/>
          <p:cNvPicPr preferRelativeResize="0"/>
          <p:nvPr/>
        </p:nvPicPr>
        <p:blipFill rotWithShape="1">
          <a:blip r:embed="rId8">
            <a:alphaModFix/>
          </a:blip>
          <a:srcRect b="-4585" l="0" r="0" t="-4585"/>
          <a:stretch/>
        </p:blipFill>
        <p:spPr>
          <a:xfrm>
            <a:off x="6696151" y="2400300"/>
            <a:ext cx="20939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7220102" y="2333549"/>
            <a:ext cx="4210812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Open Sans"/>
              <a:buNone/>
            </a:pPr>
            <a:r>
              <a:rPr b="1" lang="en-US" sz="180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Процесс TO-BE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7220102" y="2628900"/>
            <a:ext cx="42108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Автоматический процесс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572707" y="3286354"/>
            <a:ext cx="381305" cy="381305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9">
            <a:alphaModFix/>
          </a:blip>
          <a:srcRect b="-842" l="0" r="0" t="-842"/>
          <a:stretch/>
        </p:blipFill>
        <p:spPr>
          <a:xfrm>
            <a:off x="6667805" y="3393338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7220102" y="3286354"/>
            <a:ext cx="4114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СКУД КПП→ 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Фактические данные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7220102" y="3529584"/>
            <a:ext cx="4195267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Запрос СКУД API: прошедшие КПП4 + реестр исключений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572707" y="4009644"/>
            <a:ext cx="381305" cy="381305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805" y="4117543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7220102" y="4009644"/>
            <a:ext cx="4114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TG Bot </a:t>
            </a: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→  Заказ питания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7220102" y="4253789"/>
            <a:ext cx="40773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Ежедневный заказ питания, отправка без задержек в 10:05,</a:t>
            </a:r>
            <a:b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расширенный формат данных (по должностям)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572707" y="4733849"/>
            <a:ext cx="381305" cy="381305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67805" y="484083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7220102" y="4733849"/>
            <a:ext cx="4114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lang="en-US" sz="13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Выдача питания с аналитикой real-time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7220102" y="4977994"/>
            <a:ext cx="40773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Повара через веб-интерфейс видят заказ, статистику выдачи - с звуковыми уведомлениями и карточками сотрудников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572707" y="5458054"/>
            <a:ext cx="381305" cy="381305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67805" y="556503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7220102" y="5458054"/>
            <a:ext cx="4114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Open Sans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Отчёт о питании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7220102" y="5701284"/>
            <a:ext cx="41148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Excel через отправляется в 15:05 / 02:05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239305" y="-1333195"/>
            <a:ext cx="6096305" cy="6096305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-1524305" y="4000500"/>
            <a:ext cx="4953305" cy="4953305"/>
          </a:xfrm>
          <a:prstGeom prst="ellipse">
            <a:avLst/>
          </a:prstGeom>
          <a:solidFill>
            <a:srgbClr val="F0FDF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3">
            <a:alphaModFix/>
          </a:blip>
          <a:srcRect b="-420" l="0" r="0" t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5"/>
          <p:cNvPicPr preferRelativeResize="0"/>
          <p:nvPr/>
        </p:nvPicPr>
        <p:blipFill rotWithShape="1">
          <a:blip r:embed="rId4">
            <a:alphaModFix/>
          </a:blip>
          <a:srcRect b="-1" l="0" r="0" t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5"/>
          <p:cNvPicPr preferRelativeResize="0"/>
          <p:nvPr/>
        </p:nvPicPr>
        <p:blipFill rotWithShape="1">
          <a:blip r:embed="rId5">
            <a:alphaModFix/>
          </a:blip>
          <a:srcRect b="-5" l="0" r="0" t="-5"/>
          <a:stretch/>
        </p:blipFill>
        <p:spPr>
          <a:xfrm>
            <a:off x="571500" y="1695298"/>
            <a:ext cx="3448202" cy="221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1975520" y="1867073"/>
            <a:ext cx="418800" cy="418800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353295" y="2772468"/>
            <a:ext cx="1904700" cy="342900"/>
          </a:xfrm>
          <a:prstGeom prst="roundRect">
            <a:avLst>
              <a:gd fmla="val 148148" name="adj"/>
            </a:avLst>
          </a:prstGeom>
          <a:solidFill>
            <a:srgbClr val="3C78D8"/>
          </a:solidFill>
          <a:ln cap="flat" cmpd="sng" w="12700">
            <a:solidFill>
              <a:schemeClr val="lt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2"/>
              </a:highlight>
            </a:endParaRPr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5">
            <a:alphaModFix/>
          </a:blip>
          <a:srcRect b="-5" l="0" r="0" t="-5"/>
          <a:stretch/>
        </p:blipFill>
        <p:spPr>
          <a:xfrm>
            <a:off x="4381805" y="1695298"/>
            <a:ext cx="3448202" cy="221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5821075" y="1819648"/>
            <a:ext cx="418800" cy="418800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143500" y="2781605"/>
            <a:ext cx="1904695" cy="342900"/>
          </a:xfrm>
          <a:prstGeom prst="roundRect">
            <a:avLst>
              <a:gd fmla="val 148148" name="adj"/>
            </a:avLst>
          </a:prstGeom>
          <a:solidFill>
            <a:srgbClr val="8E7CC3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6">
            <a:alphaModFix/>
          </a:blip>
          <a:srcRect b="-5" l="0" r="0" t="-5"/>
          <a:stretch/>
        </p:blipFill>
        <p:spPr>
          <a:xfrm>
            <a:off x="8191195" y="1695298"/>
            <a:ext cx="3448202" cy="221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9666630" y="1925723"/>
            <a:ext cx="418800" cy="4188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8953805" y="2781605"/>
            <a:ext cx="1904695" cy="342900"/>
          </a:xfrm>
          <a:prstGeom prst="roundRect">
            <a:avLst>
              <a:gd fmla="val 148148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7">
            <a:alphaModFix/>
          </a:blip>
          <a:srcRect b="-5" l="0" r="0" t="-5"/>
          <a:stretch/>
        </p:blipFill>
        <p:spPr>
          <a:xfrm>
            <a:off x="571500" y="4153205"/>
            <a:ext cx="3448202" cy="221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1975520" y="4362605"/>
            <a:ext cx="418800" cy="418800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333195" y="5238598"/>
            <a:ext cx="1904695" cy="342900"/>
          </a:xfrm>
          <a:prstGeom prst="roundRect">
            <a:avLst>
              <a:gd fmla="val 148148" name="adj"/>
            </a:avLst>
          </a:prstGeom>
          <a:solidFill>
            <a:srgbClr val="B45F0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5"/>
          <p:cNvPicPr preferRelativeResize="0"/>
          <p:nvPr/>
        </p:nvPicPr>
        <p:blipFill rotWithShape="1">
          <a:blip r:embed="rId8">
            <a:alphaModFix/>
          </a:blip>
          <a:srcRect b="-5" l="0" r="0" t="-5"/>
          <a:stretch/>
        </p:blipFill>
        <p:spPr>
          <a:xfrm>
            <a:off x="4381805" y="4153205"/>
            <a:ext cx="3448202" cy="221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5777000" y="4362605"/>
            <a:ext cx="418800" cy="418800"/>
          </a:xfrm>
          <a:prstGeom prst="ellipse">
            <a:avLst/>
          </a:prstGeom>
          <a:solidFill>
            <a:srgbClr val="F5F3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143500" y="5238598"/>
            <a:ext cx="1904695" cy="342900"/>
          </a:xfrm>
          <a:prstGeom prst="roundRect">
            <a:avLst>
              <a:gd fmla="val 148148" name="adj"/>
            </a:avLst>
          </a:prstGeom>
          <a:solidFill>
            <a:srgbClr val="A64D7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5"/>
          <p:cNvPicPr preferRelativeResize="0"/>
          <p:nvPr/>
        </p:nvPicPr>
        <p:blipFill rotWithShape="1">
          <a:blip r:embed="rId9">
            <a:alphaModFix/>
          </a:blip>
          <a:srcRect b="-5" l="0" r="0" t="-5"/>
          <a:stretch/>
        </p:blipFill>
        <p:spPr>
          <a:xfrm>
            <a:off x="8191195" y="4153205"/>
            <a:ext cx="3448202" cy="221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9666630" y="4362605"/>
            <a:ext cx="418800" cy="418800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8953805" y="5238598"/>
            <a:ext cx="1904695" cy="342900"/>
          </a:xfrm>
          <a:prstGeom prst="roundRect">
            <a:avLst>
              <a:gd fmla="val 148148" name="adj"/>
            </a:avLst>
          </a:prstGeom>
          <a:solidFill>
            <a:srgbClr val="6B728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571500" y="609905"/>
            <a:ext cx="237744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ПРОЕКТ РЕЕСТР ЗАКУПОК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t/>
            </a:r>
            <a:endParaRPr b="1" sz="900">
              <a:solidFill>
                <a:srgbClr val="6B72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71500" y="875995"/>
            <a:ext cx="8382305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lang="en-US" sz="2700">
                <a:latin typeface="Montserrat"/>
                <a:ea typeface="Montserrat"/>
                <a:cs typeface="Montserrat"/>
                <a:sym typeface="Montserrat"/>
              </a:rPr>
              <a:t>Эффект (</a:t>
            </a:r>
            <a:r>
              <a:rPr b="1" lang="en-US" sz="2700">
                <a:latin typeface="Montserrat"/>
                <a:ea typeface="Montserrat"/>
                <a:cs typeface="Montserrat"/>
                <a:sym typeface="Montserrat"/>
              </a:rPr>
              <a:t>Нефинансовый</a:t>
            </a:r>
            <a:r>
              <a:rPr b="1" lang="en-US" sz="2700"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5"/>
          <p:cNvPicPr preferRelativeResize="0"/>
          <p:nvPr/>
        </p:nvPicPr>
        <p:blipFill rotWithShape="1">
          <a:blip r:embed="rId10">
            <a:alphaModFix/>
          </a:blip>
          <a:srcRect b="-6250" l="0" r="0" t="-6250"/>
          <a:stretch/>
        </p:blipFill>
        <p:spPr>
          <a:xfrm>
            <a:off x="1975520" y="1867073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743400" y="2390127"/>
            <a:ext cx="3086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числа</a:t>
            </a:r>
            <a:b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участников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2040026" y="2848356"/>
            <a:ext cx="58978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lang="en-US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→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761695" y="3219602"/>
            <a:ext cx="3048610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Руководители подразделений и IT-отдел выведены из ежедневного операционного цикла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5"/>
          <p:cNvPicPr preferRelativeResize="0"/>
          <p:nvPr/>
        </p:nvPicPr>
        <p:blipFill rotWithShape="1">
          <a:blip r:embed="rId11">
            <a:alphaModFix/>
          </a:blip>
          <a:srcRect b="0" l="-7143" r="-7143" t="0"/>
          <a:stretch/>
        </p:blipFill>
        <p:spPr>
          <a:xfrm>
            <a:off x="5821075" y="1853023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4552800" y="2390127"/>
            <a:ext cx="3086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вариантности</a:t>
            </a:r>
            <a:b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процесса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5594299" y="2848356"/>
            <a:ext cx="112105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en-US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4572000" y="3219602"/>
            <a:ext cx="30486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Процесс исполняется по единому алгоритму без зависимости от </a:t>
            </a:r>
            <a:r>
              <a:rPr b="1"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человеческого фактора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66630" y="1925723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8363102" y="2457907"/>
            <a:ext cx="30861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ошибок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9720072" y="2848356"/>
            <a:ext cx="44805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8382305" y="3219602"/>
            <a:ext cx="30486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Заказы и анализ на основе фактических данных исключает возможность ошибок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5"/>
          <p:cNvPicPr preferRelativeResize="0"/>
          <p:nvPr/>
        </p:nvPicPr>
        <p:blipFill rotWithShape="1">
          <a:blip r:embed="rId13">
            <a:alphaModFix/>
          </a:blip>
          <a:srcRect b="-6250" l="0" r="0" t="-6250"/>
          <a:stretch/>
        </p:blipFill>
        <p:spPr>
          <a:xfrm>
            <a:off x="1975520" y="4395980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743407" y="4914900"/>
            <a:ext cx="30861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Масштабируемость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2162556" y="5305349"/>
            <a:ext cx="32461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×N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761695" y="5676595"/>
            <a:ext cx="30486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Увеличение кол-ва сотрудников не требует пропорционального роста ручного труда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21075" y="4362605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4552798" y="4914900"/>
            <a:ext cx="30861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Прозрачность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5608925" y="5319975"/>
            <a:ext cx="973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Сквозная</a:t>
            </a:r>
            <a:r>
              <a:rPr b="1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аналитика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4572000" y="5676595"/>
            <a:ext cx="3048610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Автоматический отчёт в Telegram: данные о заказе и выдаче питания в реальном времени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66630" y="4362605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 txBox="1"/>
          <p:nvPr/>
        </p:nvSpPr>
        <p:spPr>
          <a:xfrm>
            <a:off x="8363102" y="4914900"/>
            <a:ext cx="30861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Скорость процесса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9037924" y="5319975"/>
            <a:ext cx="1689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Без</a:t>
            </a: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задержек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8382305" y="5676595"/>
            <a:ext cx="3048610" cy="523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Заказ формируется сразу после прохода КПП, без ожидания таблиц от руководителей и р</a:t>
            </a:r>
            <a:r>
              <a:rPr b="1"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есурса рук-ля АХО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263375" y="-9175"/>
            <a:ext cx="12191700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7239305" y="-1238098"/>
            <a:ext cx="5905195" cy="5905195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-1333195" y="4095598"/>
            <a:ext cx="4381805" cy="4381805"/>
          </a:xfrm>
          <a:prstGeom prst="ellipse">
            <a:avLst/>
          </a:prstGeom>
          <a:solidFill>
            <a:srgbClr val="F0FDF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3">
            <a:alphaModFix/>
          </a:blip>
          <a:srcRect b="-420" l="0" r="0" t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6"/>
          <p:cNvPicPr preferRelativeResize="0"/>
          <p:nvPr/>
        </p:nvPicPr>
        <p:blipFill rotWithShape="1">
          <a:blip r:embed="rId4">
            <a:alphaModFix/>
          </a:blip>
          <a:srcRect b="-1" l="0" r="0" t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571500" y="1886407"/>
            <a:ext cx="2667305" cy="1257300"/>
          </a:xfrm>
          <a:prstGeom prst="roundRect">
            <a:avLst>
              <a:gd fmla="val 1322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584425" y="1886400"/>
            <a:ext cx="2654400" cy="474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 cap="flat" cmpd="sng" w="12700">
            <a:solidFill>
              <a:srgbClr val="EF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3333902" y="1886407"/>
            <a:ext cx="2667305" cy="1257300"/>
          </a:xfrm>
          <a:prstGeom prst="roundRect">
            <a:avLst>
              <a:gd fmla="val 1322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333902" y="1886407"/>
            <a:ext cx="2667305" cy="47549"/>
          </a:xfrm>
          <a:prstGeom prst="roundRect">
            <a:avLst>
              <a:gd fmla="val 349649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096305" y="1886407"/>
            <a:ext cx="2667305" cy="1257300"/>
          </a:xfrm>
          <a:prstGeom prst="roundRect">
            <a:avLst>
              <a:gd fmla="val 1322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096305" y="1886407"/>
            <a:ext cx="2667305" cy="47549"/>
          </a:xfrm>
          <a:prstGeom prst="roundRect">
            <a:avLst>
              <a:gd fmla="val 349649" name="adj"/>
            </a:avLst>
          </a:prstGeom>
          <a:solidFill>
            <a:srgbClr val="0EA5E9"/>
          </a:solidFill>
          <a:ln cap="flat" cmpd="sng" w="12700">
            <a:solidFill>
              <a:srgbClr val="0EA5E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858707" y="1886407"/>
            <a:ext cx="2667305" cy="1257300"/>
          </a:xfrm>
          <a:prstGeom prst="roundRect">
            <a:avLst>
              <a:gd fmla="val 1322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8950075" y="1886400"/>
            <a:ext cx="2575800" cy="47400"/>
          </a:xfrm>
          <a:prstGeom prst="roundRect">
            <a:avLst>
              <a:gd fmla="val 349649" name="adj"/>
            </a:avLst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571500" y="3333902"/>
            <a:ext cx="6877202" cy="3258007"/>
          </a:xfrm>
          <a:prstGeom prst="roundRect">
            <a:avLst>
              <a:gd fmla="val 197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800100" y="3847795"/>
            <a:ext cx="6420002" cy="381305"/>
          </a:xfrm>
          <a:prstGeom prst="roundRect">
            <a:avLst>
              <a:gd fmla="val 119904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6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800100" y="4304995"/>
            <a:ext cx="6400800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800100" y="4686300"/>
            <a:ext cx="6400800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6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800100" y="5067605"/>
            <a:ext cx="6400800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6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800100" y="5447995"/>
            <a:ext cx="6400800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6"/>
          <p:cNvPicPr preferRelativeResize="0"/>
          <p:nvPr/>
        </p:nvPicPr>
        <p:blipFill rotWithShape="1">
          <a:blip r:embed="rId5">
            <a:alphaModFix/>
          </a:blip>
          <a:srcRect b="0" l="-2083" r="-2083" t="0"/>
          <a:stretch/>
        </p:blipFill>
        <p:spPr>
          <a:xfrm>
            <a:off x="800100" y="5829300"/>
            <a:ext cx="6400800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/>
          <p:nvPr/>
        </p:nvSpPr>
        <p:spPr>
          <a:xfrm>
            <a:off x="800100" y="6210605"/>
            <a:ext cx="6420002" cy="342900"/>
          </a:xfrm>
          <a:prstGeom prst="roundRect">
            <a:avLst>
              <a:gd fmla="val 148148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7658100" y="3333902"/>
            <a:ext cx="3981298" cy="3258007"/>
          </a:xfrm>
          <a:prstGeom prst="roundRect">
            <a:avLst>
              <a:gd fmla="val 197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7886700" y="3524098"/>
            <a:ext cx="418795" cy="418795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6">
            <a:alphaModFix/>
          </a:blip>
          <a:srcRect b="0" l="-2078" r="-2078" t="0"/>
          <a:stretch/>
        </p:blipFill>
        <p:spPr>
          <a:xfrm>
            <a:off x="7886700" y="4304995"/>
            <a:ext cx="3619195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6"/>
          <p:cNvPicPr preferRelativeResize="0"/>
          <p:nvPr/>
        </p:nvPicPr>
        <p:blipFill rotWithShape="1">
          <a:blip r:embed="rId6">
            <a:alphaModFix/>
          </a:blip>
          <a:srcRect b="0" l="-2078" r="-2078" t="0"/>
          <a:stretch/>
        </p:blipFill>
        <p:spPr>
          <a:xfrm>
            <a:off x="7886700" y="4686300"/>
            <a:ext cx="3619195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6"/>
          <p:cNvPicPr preferRelativeResize="0"/>
          <p:nvPr/>
        </p:nvPicPr>
        <p:blipFill rotWithShape="1">
          <a:blip r:embed="rId6">
            <a:alphaModFix/>
          </a:blip>
          <a:srcRect b="0" l="-2078" r="-2078" t="0"/>
          <a:stretch/>
        </p:blipFill>
        <p:spPr>
          <a:xfrm>
            <a:off x="7886700" y="5067605"/>
            <a:ext cx="3619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/>
          <p:nvPr/>
        </p:nvSpPr>
        <p:spPr>
          <a:xfrm>
            <a:off x="7886700" y="5905195"/>
            <a:ext cx="3543300" cy="552298"/>
          </a:xfrm>
          <a:prstGeom prst="roundRect">
            <a:avLst>
              <a:gd fmla="val 57091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571500" y="609905"/>
            <a:ext cx="217993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ПРОЕКТ РЕЕСТР ЗАКУПОК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571500" y="875995"/>
            <a:ext cx="9525305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Эффект (Экономический)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571500" y="1410005"/>
            <a:ext cx="94494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Экономика процесса — AS‑IS vs TO‑BE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761695" y="2038198"/>
            <a:ext cx="237744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Затраты AS‑IS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761695" y="2238451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(в месяц)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761695" y="2400300"/>
            <a:ext cx="2377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500"/>
              <a:buFont typeface="Montserrat"/>
              <a:buNone/>
            </a:pPr>
            <a:r>
              <a:rPr b="1" i="0" lang="en-US" sz="25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$</a:t>
            </a:r>
            <a:r>
              <a:rPr b="1" lang="en-US" sz="2500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3 138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761695" y="2800807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ФОТ + ошибки + косвенные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3524098" y="2038198"/>
            <a:ext cx="237744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Затраты TO‑BE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3524098" y="2238451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(в месяц)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3524098" y="2400300"/>
            <a:ext cx="237744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500"/>
              <a:buFont typeface="Montserrat"/>
              <a:buNone/>
            </a:pPr>
            <a:r>
              <a:rPr b="1" i="0" lang="en-US" sz="25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$</a:t>
            </a:r>
            <a:r>
              <a:rPr b="1" lang="en-US" sz="250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3 115</a:t>
            </a:r>
            <a:endParaRPr b="1" sz="2500">
              <a:solidFill>
                <a:srgbClr val="10B9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3524098" y="2800807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Остаточный ФОТ + сопровождение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6286500" y="2038198"/>
            <a:ext cx="237744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Экономия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6286500" y="2238451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(в месяц)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6286500" y="2400300"/>
            <a:ext cx="2377440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500"/>
              <a:buFont typeface="Montserrat"/>
              <a:buNone/>
            </a:pPr>
            <a:r>
              <a:rPr b="1" i="0" lang="en-US" sz="2500" u="none" cap="none" strike="noStrik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$</a:t>
            </a:r>
            <a:r>
              <a:rPr b="1" lang="en-US" sz="2500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6286500" y="2800807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−</a:t>
            </a: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% от текущих затрат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9048902" y="2038198"/>
            <a:ext cx="237744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Инвестиции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9048902" y="2238451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(разово)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9048902" y="2400300"/>
            <a:ext cx="2377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500"/>
              <a:buFont typeface="Montserrat"/>
              <a:buNone/>
            </a:pPr>
            <a:r>
              <a:rPr b="1" i="0" lang="en-US" sz="2500" u="none" cap="none" strike="noStrik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$582</a:t>
            </a:r>
            <a:endParaRPr b="1" sz="2500">
              <a:solidFill>
                <a:srgbClr val="F59E0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9048902" y="2800807"/>
            <a:ext cx="237744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M1–M</a:t>
            </a: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, ФОТ команды + встречи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800100" y="3524098"/>
            <a:ext cx="487741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затрат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933602" y="3943807"/>
            <a:ext cx="32580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Статья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4953300" y="3947975"/>
            <a:ext cx="761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AS‑IS / мес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6187075" y="3943879"/>
            <a:ext cx="823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TO‑BE / мес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933602" y="4419295"/>
            <a:ext cx="33531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ФОТ исполнителей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933602" y="4800600"/>
            <a:ext cx="33531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Налоги на ФОТ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933602" y="5181905"/>
            <a:ext cx="33531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Стоимость ошибок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933602" y="5562295"/>
            <a:ext cx="33531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Косвенные издержки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933602" y="5943600"/>
            <a:ext cx="43059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Сопровождение (ФОТ </a:t>
            </a:r>
            <a:r>
              <a:rPr b="1" lang="en-US" sz="10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отд автоматизации</a:t>
            </a:r>
            <a:r>
              <a:rPr b="1" i="0" lang="en-US" sz="10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4100170" y="4419295"/>
            <a:ext cx="1424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b="1" lang="en-US" sz="1000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2 304</a:t>
            </a:r>
            <a:endParaRPr b="1" sz="1000">
              <a:solidFill>
                <a:srgbClr val="EF444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4100170" y="4800600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b="1" lang="en-US" sz="1000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346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4100170" y="5181905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$3</a:t>
            </a:r>
            <a:r>
              <a:rPr b="1" lang="en-US" sz="1000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4100170" y="5562295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b="1" lang="en-US" sz="1000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456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4100170" y="5943600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5586070" y="4419295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b="1" lang="en-US" sz="1000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2 304</a:t>
            </a:r>
            <a:endParaRPr b="1" sz="1000">
              <a:solidFill>
                <a:srgbClr val="10B98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5586070" y="4800600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b="1" lang="en-US" sz="1000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346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5586070" y="5181905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$0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5586070" y="5562295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b="1" lang="en-US" sz="1000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456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5586070" y="5943600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b="1" lang="en-US" sz="1000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933602" y="6286500"/>
            <a:ext cx="257586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ИТОГО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4100170" y="6286500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$3</a:t>
            </a:r>
            <a:r>
              <a:rPr b="1" lang="en-US" sz="1000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 138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5586070" y="6286500"/>
            <a:ext cx="142463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Open Sans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b="1" lang="en-US" sz="1000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3 115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6"/>
          <p:cNvPicPr preferRelativeResize="0"/>
          <p:nvPr/>
        </p:nvPicPr>
        <p:blipFill rotWithShape="1">
          <a:blip r:embed="rId7">
            <a:alphaModFix/>
          </a:blip>
          <a:srcRect b="-6250" l="0" r="0" t="-6250"/>
          <a:stretch/>
        </p:blipFill>
        <p:spPr>
          <a:xfrm>
            <a:off x="7886700" y="3524098"/>
            <a:ext cx="418795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 txBox="1"/>
          <p:nvPr/>
        </p:nvSpPr>
        <p:spPr>
          <a:xfrm>
            <a:off x="8419795" y="3581705"/>
            <a:ext cx="306781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Финансовый итог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886700" y="4076395"/>
            <a:ext cx="237744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Срок окупаемости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9696298" y="4076395"/>
            <a:ext cx="17145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b="1" i="0" lang="en-US" sz="9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-US" sz="9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  <a:r>
              <a:rPr b="1" i="0" lang="en-US" sz="9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месяца</a:t>
            </a:r>
            <a:endParaRPr b="1" sz="900">
              <a:solidFill>
                <a:srgbClr val="0F17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7886700" y="4457700"/>
            <a:ext cx="257586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Экономия за </a:t>
            </a: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месяцев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9696298" y="4457700"/>
            <a:ext cx="17145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+$</a:t>
            </a:r>
            <a:r>
              <a:rPr b="1" lang="en-US" sz="900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230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7886700" y="4839005"/>
            <a:ext cx="217993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ROI за 12 месяцев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9696298" y="4850081"/>
            <a:ext cx="17145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≈ -60%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886700" y="5219395"/>
            <a:ext cx="217993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Стадии проекта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7886700" y="5447995"/>
            <a:ext cx="36393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M1-M2 - Инвестиции, М3 - Тест, М</a:t>
            </a:r>
            <a:r>
              <a:rPr b="1" lang="en-US" sz="9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1" lang="en-US" sz="9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- Продукт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6"/>
          <p:cNvPicPr preferRelativeResize="0"/>
          <p:nvPr/>
        </p:nvPicPr>
        <p:blipFill rotWithShape="1">
          <a:blip r:embed="rId8">
            <a:alphaModFix/>
          </a:blip>
          <a:srcRect b="-10904" l="0" r="0" t="-10904"/>
          <a:stretch/>
        </p:blipFill>
        <p:spPr>
          <a:xfrm>
            <a:off x="8020202" y="6057900"/>
            <a:ext cx="171907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6"/>
          <p:cNvSpPr txBox="1"/>
          <p:nvPr/>
        </p:nvSpPr>
        <p:spPr>
          <a:xfrm>
            <a:off x="8250355" y="5938570"/>
            <a:ext cx="31245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Цифры рассчитаны по ежемесячным операционным затратам до/после и разовым инвестициям проекта.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 rot="2700000">
            <a:off x="553973" y="1835069"/>
            <a:ext cx="78913" cy="102672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 rot="2700000">
            <a:off x="3310948" y="1835069"/>
            <a:ext cx="78913" cy="102672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 rot="2700000">
            <a:off x="6083423" y="1835069"/>
            <a:ext cx="78913" cy="102672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3866998" y="-2029054"/>
            <a:ext cx="5715000" cy="57150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7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7"/>
          <p:cNvPicPr preferRelativeResize="0"/>
          <p:nvPr/>
        </p:nvPicPr>
        <p:blipFill rotWithShape="1">
          <a:blip r:embed="rId4">
            <a:alphaModFix/>
          </a:blip>
          <a:srcRect b="-420" l="0" r="0" t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7"/>
          <p:cNvSpPr/>
          <p:nvPr/>
        </p:nvSpPr>
        <p:spPr>
          <a:xfrm>
            <a:off x="571500" y="2210105"/>
            <a:ext cx="5429707" cy="4267505"/>
          </a:xfrm>
          <a:prstGeom prst="roundRect">
            <a:avLst>
              <a:gd fmla="val 114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643500" y="2419499"/>
            <a:ext cx="613800" cy="627900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6210605" y="2210105"/>
            <a:ext cx="5429707" cy="4267505"/>
          </a:xfrm>
          <a:prstGeom prst="roundRect">
            <a:avLst>
              <a:gd fmla="val 114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6329099" y="2419499"/>
            <a:ext cx="567300" cy="5625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571500" y="609905"/>
            <a:ext cx="29718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ПРОЕКТ РЕЕСТР ЗАКУПОК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t/>
            </a:r>
            <a:endParaRPr b="1" sz="900">
              <a:solidFill>
                <a:srgbClr val="6B72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571500" y="875995"/>
            <a:ext cx="10668305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Визуализация решения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571500" y="1410005"/>
            <a:ext cx="86868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Скриншоты интерфейсов системы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571500" y="1886407"/>
            <a:ext cx="58293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TELEGRAM-ИНТЕРФЕЙС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7"/>
          <p:cNvPicPr preferRelativeResize="0"/>
          <p:nvPr/>
        </p:nvPicPr>
        <p:blipFill rotWithShape="1">
          <a:blip r:embed="rId5">
            <a:alphaModFix/>
          </a:blip>
          <a:srcRect b="-8178" l="0" r="0" t="-8178"/>
          <a:stretch/>
        </p:blipFill>
        <p:spPr>
          <a:xfrm>
            <a:off x="818844" y="2560024"/>
            <a:ext cx="267000" cy="35506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7"/>
          <p:cNvSpPr txBox="1"/>
          <p:nvPr/>
        </p:nvSpPr>
        <p:spPr>
          <a:xfrm>
            <a:off x="1371600" y="2457907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Montserrat"/>
              <a:buNone/>
            </a:pPr>
            <a:r>
              <a:rPr b="1" lang="en-US" sz="15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Канбан процессов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1505100" y="2724000"/>
            <a:ext cx="4101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Разделение процесса в виде этапов</a:t>
            </a:r>
            <a:endParaRPr sz="1000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preencoded.png" id="284" name="Google Shape;284;p7"/>
          <p:cNvPicPr preferRelativeResize="0"/>
          <p:nvPr/>
        </p:nvPicPr>
        <p:blipFill rotWithShape="1">
          <a:blip r:embed="rId6">
            <a:alphaModFix/>
          </a:blip>
          <a:srcRect b="-7020" l="0" r="0" t="-7020"/>
          <a:stretch/>
        </p:blipFill>
        <p:spPr>
          <a:xfrm>
            <a:off x="3066898" y="4476902"/>
            <a:ext cx="2670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 txBox="1"/>
          <p:nvPr/>
        </p:nvSpPr>
        <p:spPr>
          <a:xfrm>
            <a:off x="743407" y="4876495"/>
            <a:ext cx="50676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[ скриншот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6" name="Google Shape;286;p7"/>
          <p:cNvPicPr preferRelativeResize="0"/>
          <p:nvPr/>
        </p:nvPicPr>
        <p:blipFill rotWithShape="1">
          <a:blip r:embed="rId7">
            <a:alphaModFix/>
          </a:blip>
          <a:srcRect b="-10096" l="0" r="0" t="-10096"/>
          <a:stretch/>
        </p:blipFill>
        <p:spPr>
          <a:xfrm>
            <a:off x="6495899" y="2533799"/>
            <a:ext cx="267000" cy="32090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7"/>
          <p:cNvSpPr txBox="1"/>
          <p:nvPr/>
        </p:nvSpPr>
        <p:spPr>
          <a:xfrm>
            <a:off x="7010705" y="2457907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Montserrat"/>
              <a:buNone/>
            </a:pPr>
            <a:r>
              <a:rPr b="1" lang="en-US" sz="15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Бизнес правила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7224301" y="2704800"/>
            <a:ext cx="3744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Возможность кастомно настраивать правила процессов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9" name="Google Shape;289;p7"/>
          <p:cNvPicPr preferRelativeResize="0"/>
          <p:nvPr/>
        </p:nvPicPr>
        <p:blipFill rotWithShape="1">
          <a:blip r:embed="rId6">
            <a:alphaModFix/>
          </a:blip>
          <a:srcRect b="-7020" l="0" r="0" t="-7020"/>
          <a:stretch/>
        </p:blipFill>
        <p:spPr>
          <a:xfrm>
            <a:off x="8706002" y="4476902"/>
            <a:ext cx="2670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7"/>
          <p:cNvSpPr txBox="1"/>
          <p:nvPr/>
        </p:nvSpPr>
        <p:spPr>
          <a:xfrm>
            <a:off x="6381598" y="4876495"/>
            <a:ext cx="50676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[ скриншот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7" title="Screenshot 2026-07-16 153334.png"/>
          <p:cNvPicPr preferRelativeResize="0"/>
          <p:nvPr/>
        </p:nvPicPr>
        <p:blipFill rotWithShape="1">
          <a:blip r:embed="rId8">
            <a:alphaModFix/>
          </a:blip>
          <a:srcRect b="0" l="0" r="44228" t="0"/>
          <a:stretch/>
        </p:blipFill>
        <p:spPr>
          <a:xfrm>
            <a:off x="1085850" y="3145600"/>
            <a:ext cx="3851075" cy="3139023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2" name="Google Shape;292;p7" title="Screenshot 2026-07-16 153343.png"/>
          <p:cNvPicPr preferRelativeResize="0"/>
          <p:nvPr/>
        </p:nvPicPr>
        <p:blipFill rotWithShape="1">
          <a:blip r:embed="rId9">
            <a:alphaModFix/>
          </a:blip>
          <a:srcRect b="-2800" l="0" r="42739" t="2800"/>
          <a:stretch/>
        </p:blipFill>
        <p:spPr>
          <a:xfrm>
            <a:off x="6966658" y="3159763"/>
            <a:ext cx="4001940" cy="32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/>
          <p:nvPr/>
        </p:nvSpPr>
        <p:spPr>
          <a:xfrm>
            <a:off x="4996498" y="2613663"/>
            <a:ext cx="609900" cy="247800"/>
          </a:xfrm>
          <a:prstGeom prst="roundRect">
            <a:avLst>
              <a:gd fmla="val 369004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WEB</a:t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10777773" y="2533800"/>
            <a:ext cx="609900" cy="247800"/>
          </a:xfrm>
          <a:prstGeom prst="roundRect">
            <a:avLst>
              <a:gd fmla="val 369004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3866998" y="-2029054"/>
            <a:ext cx="5715000" cy="5715000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8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8"/>
          <p:cNvPicPr preferRelativeResize="0"/>
          <p:nvPr/>
        </p:nvPicPr>
        <p:blipFill rotWithShape="1">
          <a:blip r:embed="rId4">
            <a:alphaModFix/>
          </a:blip>
          <a:srcRect b="-420" l="0" r="0" t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8"/>
          <p:cNvSpPr/>
          <p:nvPr/>
        </p:nvSpPr>
        <p:spPr>
          <a:xfrm>
            <a:off x="571500" y="2324405"/>
            <a:ext cx="5429707" cy="4114800"/>
          </a:xfrm>
          <a:prstGeom prst="roundRect">
            <a:avLst>
              <a:gd fmla="val 12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6210605" y="2324405"/>
            <a:ext cx="5429707" cy="4114800"/>
          </a:xfrm>
          <a:prstGeom prst="roundRect">
            <a:avLst>
              <a:gd fmla="val 123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730626" y="2590502"/>
            <a:ext cx="602700" cy="594300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4895698" y="2628900"/>
            <a:ext cx="609905" cy="247802"/>
          </a:xfrm>
          <a:prstGeom prst="roundRect">
            <a:avLst>
              <a:gd fmla="val 369004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6369725" y="2590501"/>
            <a:ext cx="602700" cy="594300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10515600" y="2628900"/>
            <a:ext cx="875995" cy="247802"/>
          </a:xfrm>
          <a:prstGeom prst="roundRect">
            <a:avLst>
              <a:gd fmla="val 369004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571500" y="629107"/>
            <a:ext cx="198150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ПРОЕКТ РЕЕСТР ЗАКУПОК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t/>
            </a:r>
            <a:endParaRPr b="1" sz="900">
              <a:solidFill>
                <a:srgbClr val="6B72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8"/>
          <p:cNvSpPr txBox="1"/>
          <p:nvPr/>
        </p:nvSpPr>
        <p:spPr>
          <a:xfrm>
            <a:off x="571500" y="895198"/>
            <a:ext cx="11239805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Визуализация решения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571500" y="1410005"/>
            <a:ext cx="86868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Скриншоты интерфейсов системы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571500" y="1981505"/>
            <a:ext cx="58293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ИНТЕРФЕЙС ДЛЯ ПОВАРОВ</a:t>
            </a:r>
            <a:endParaRPr b="1" sz="9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preencoded.png" id="315" name="Google Shape;315;p8"/>
          <p:cNvPicPr preferRelativeResize="0"/>
          <p:nvPr/>
        </p:nvPicPr>
        <p:blipFill rotWithShape="1">
          <a:blip r:embed="rId5">
            <a:alphaModFix/>
          </a:blip>
          <a:srcRect b="-842" l="0" r="0" t="-842"/>
          <a:stretch/>
        </p:blipFill>
        <p:spPr>
          <a:xfrm>
            <a:off x="857699" y="2772472"/>
            <a:ext cx="304500" cy="27524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8"/>
          <p:cNvSpPr txBox="1"/>
          <p:nvPr/>
        </p:nvSpPr>
        <p:spPr>
          <a:xfrm>
            <a:off x="1447495" y="2609698"/>
            <a:ext cx="3162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Montserrat"/>
              <a:buNone/>
            </a:pPr>
            <a:r>
              <a:rPr b="1" lang="en-US" sz="15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Календарь закупок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5031029" y="2671877"/>
            <a:ext cx="3429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1609800" y="2841025"/>
            <a:ext cx="3353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Возможность ведения календаря закупок по заявкам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t/>
            </a:r>
            <a:endParaRPr sz="1000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preencoded.png" id="319" name="Google Shape;31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61995" y="4552798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8"/>
          <p:cNvSpPr txBox="1"/>
          <p:nvPr/>
        </p:nvSpPr>
        <p:spPr>
          <a:xfrm>
            <a:off x="819302" y="4953305"/>
            <a:ext cx="50292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[ скриншот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1" name="Google Shape;32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5148" y="2734046"/>
            <a:ext cx="304500" cy="30454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8"/>
          <p:cNvSpPr txBox="1"/>
          <p:nvPr/>
        </p:nvSpPr>
        <p:spPr>
          <a:xfrm>
            <a:off x="7086600" y="2609698"/>
            <a:ext cx="3353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Montserrat"/>
              <a:buNone/>
            </a:pPr>
            <a:r>
              <a:rPr b="1" lang="en-US" sz="15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Учет нестандартных кейсов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10654589" y="2671877"/>
            <a:ext cx="60259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7248700" y="2841025"/>
            <a:ext cx="5029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Проходы без заказа/вне периода питания - фиксируется</a:t>
            </a:r>
            <a:endParaRPr sz="1000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preencoded.png" id="325" name="Google Shape;32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01100" y="4552798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8"/>
          <p:cNvSpPr txBox="1"/>
          <p:nvPr/>
        </p:nvSpPr>
        <p:spPr>
          <a:xfrm>
            <a:off x="6458407" y="4953305"/>
            <a:ext cx="50292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[ скриншот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8" title="Снимок экрана 2026-07-16 160332.png"/>
          <p:cNvPicPr preferRelativeResize="0"/>
          <p:nvPr/>
        </p:nvPicPr>
        <p:blipFill rotWithShape="1">
          <a:blip r:embed="rId8">
            <a:alphaModFix/>
          </a:blip>
          <a:srcRect b="0" l="0" r="25628" t="0"/>
          <a:stretch/>
        </p:blipFill>
        <p:spPr>
          <a:xfrm>
            <a:off x="1156265" y="3328588"/>
            <a:ext cx="4315974" cy="2924825"/>
          </a:xfrm>
          <a:prstGeom prst="rect">
            <a:avLst/>
          </a:prstGeom>
          <a:solidFill>
            <a:srgbClr val="F8FAFC"/>
          </a:solidFill>
          <a:ln cap="flat" cmpd="sng" w="254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8" name="Google Shape;328;p8" title="Screenshot 2026-07-16 154000.png"/>
          <p:cNvPicPr preferRelativeResize="0"/>
          <p:nvPr/>
        </p:nvPicPr>
        <p:blipFill rotWithShape="1">
          <a:blip r:embed="rId9">
            <a:alphaModFix/>
          </a:blip>
          <a:srcRect b="3600" l="0" r="39705" t="-3600"/>
          <a:stretch/>
        </p:blipFill>
        <p:spPr>
          <a:xfrm>
            <a:off x="6972425" y="3291057"/>
            <a:ext cx="4315978" cy="2996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3238805" y="-2476195"/>
            <a:ext cx="6096305" cy="6096305"/>
          </a:xfrm>
          <a:prstGeom prst="ellipse">
            <a:avLst/>
          </a:prstGeom>
          <a:solidFill>
            <a:srgbClr val="F0F9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9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8" name="Google Shape;338;p9"/>
          <p:cNvPicPr preferRelativeResize="0"/>
          <p:nvPr/>
        </p:nvPicPr>
        <p:blipFill rotWithShape="1">
          <a:blip r:embed="rId4">
            <a:alphaModFix/>
          </a:blip>
          <a:srcRect b="-420" l="0" r="0" t="-420"/>
          <a:stretch/>
        </p:blipFill>
        <p:spPr>
          <a:xfrm>
            <a:off x="571500" y="381305"/>
            <a:ext cx="76169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9"/>
          <p:cNvSpPr/>
          <p:nvPr/>
        </p:nvSpPr>
        <p:spPr>
          <a:xfrm>
            <a:off x="571500" y="2305202"/>
            <a:ext cx="5429707" cy="4209898"/>
          </a:xfrm>
          <a:prstGeom prst="roundRect">
            <a:avLst>
              <a:gd fmla="val 117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6210605" y="2305202"/>
            <a:ext cx="5429707" cy="4209898"/>
          </a:xfrm>
          <a:prstGeom prst="roundRect">
            <a:avLst>
              <a:gd fmla="val 117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657900" y="2565450"/>
            <a:ext cx="609900" cy="595200"/>
          </a:xfrm>
          <a:prstGeom prst="ellipse">
            <a:avLst/>
          </a:prstGeom>
          <a:solidFill>
            <a:srgbClr val="EFF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4914900" y="2572207"/>
            <a:ext cx="609905" cy="247802"/>
          </a:xfrm>
          <a:prstGeom prst="roundRect">
            <a:avLst>
              <a:gd fmla="val 369004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6315529" y="2572197"/>
            <a:ext cx="579900" cy="595200"/>
          </a:xfrm>
          <a:prstGeom prst="ellipse">
            <a:avLst/>
          </a:prstGeom>
          <a:solidFill>
            <a:srgbClr val="ECF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0554005" y="2572207"/>
            <a:ext cx="609905" cy="247802"/>
          </a:xfrm>
          <a:prstGeom prst="roundRect">
            <a:avLst>
              <a:gd fmla="val 369004" name="adj"/>
            </a:avLst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 txBox="1"/>
          <p:nvPr/>
        </p:nvSpPr>
        <p:spPr>
          <a:xfrm>
            <a:off x="571500" y="629107"/>
            <a:ext cx="237744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ПРОЕКТ РЕЕСТР ЗАКУПОК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Open Sans"/>
              <a:buNone/>
            </a:pPr>
            <a:r>
              <a:t/>
            </a:r>
            <a:endParaRPr b="1" sz="900">
              <a:solidFill>
                <a:srgbClr val="6B72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571500" y="895198"/>
            <a:ext cx="10668305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Визуализация решения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571500" y="1399946"/>
            <a:ext cx="1059241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Скриншоты интерфейсов системы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571500" y="2000707"/>
            <a:ext cx="487741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ДАННЫЕ И </a:t>
            </a:r>
            <a:r>
              <a:rPr b="1" lang="en-US" sz="9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ОТЧЕТНОСТЬ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9" name="Google Shape;349;p9"/>
          <p:cNvPicPr preferRelativeResize="0"/>
          <p:nvPr/>
        </p:nvPicPr>
        <p:blipFill rotWithShape="1">
          <a:blip r:embed="rId5">
            <a:alphaModFix/>
          </a:blip>
          <a:srcRect b="-4167" l="0" r="0" t="-4167"/>
          <a:stretch/>
        </p:blipFill>
        <p:spPr>
          <a:xfrm>
            <a:off x="776681" y="2718900"/>
            <a:ext cx="351332" cy="30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9"/>
          <p:cNvSpPr txBox="1"/>
          <p:nvPr/>
        </p:nvSpPr>
        <p:spPr>
          <a:xfrm>
            <a:off x="1371600" y="2572207"/>
            <a:ext cx="3353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Montserrat"/>
              <a:buNone/>
            </a:pPr>
            <a:r>
              <a:rPr b="1" lang="en-US" sz="15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Воронка эффективности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4869180" y="2600554"/>
            <a:ext cx="70134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1540200" y="2771100"/>
            <a:ext cx="32904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Анализ конверсии, невостребованных порций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9"/>
          <p:cNvPicPr preferRelativeResize="0"/>
          <p:nvPr/>
        </p:nvPicPr>
        <p:blipFill rotWithShape="1">
          <a:blip r:embed="rId6">
            <a:alphaModFix/>
          </a:blip>
          <a:srcRect b="-3875" l="0" r="0" t="-3875"/>
          <a:stretch/>
        </p:blipFill>
        <p:spPr>
          <a:xfrm>
            <a:off x="3143707" y="4552798"/>
            <a:ext cx="247802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9"/>
          <p:cNvSpPr txBox="1"/>
          <p:nvPr/>
        </p:nvSpPr>
        <p:spPr>
          <a:xfrm>
            <a:off x="1276502" y="4895698"/>
            <a:ext cx="40005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[ скриншот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5" name="Google Shape;355;p9"/>
          <p:cNvPicPr preferRelativeResize="0"/>
          <p:nvPr/>
        </p:nvPicPr>
        <p:blipFill rotWithShape="1">
          <a:blip r:embed="rId7">
            <a:alphaModFix/>
          </a:blip>
          <a:srcRect b="-3425" l="0" r="0" t="-3425"/>
          <a:stretch/>
        </p:blipFill>
        <p:spPr>
          <a:xfrm>
            <a:off x="6458330" y="2718900"/>
            <a:ext cx="294294" cy="30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9"/>
          <p:cNvSpPr txBox="1"/>
          <p:nvPr/>
        </p:nvSpPr>
        <p:spPr>
          <a:xfrm>
            <a:off x="7010705" y="2572207"/>
            <a:ext cx="3353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Montserrat"/>
              <a:buNone/>
            </a:pPr>
            <a:r>
              <a:rPr b="1" lang="en-US" sz="15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Анализ отклонений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10508285" y="2600554"/>
            <a:ext cx="70134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 txBox="1"/>
          <p:nvPr/>
        </p:nvSpPr>
        <p:spPr>
          <a:xfrm>
            <a:off x="7142925" y="2763325"/>
            <a:ext cx="2946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Учитываются все нестандартный кейсы, </a:t>
            </a:r>
            <a:endParaRPr sz="1000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Open Sans"/>
              <a:buNone/>
            </a:pPr>
            <a:r>
              <a:rPr lang="en-US" sz="10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своевременно принимаются решения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9"/>
          <p:cNvPicPr preferRelativeResize="0"/>
          <p:nvPr/>
        </p:nvPicPr>
        <p:blipFill rotWithShape="1">
          <a:blip r:embed="rId6">
            <a:alphaModFix/>
          </a:blip>
          <a:srcRect b="-3875" l="0" r="0" t="-3875"/>
          <a:stretch/>
        </p:blipFill>
        <p:spPr>
          <a:xfrm>
            <a:off x="8781898" y="4552798"/>
            <a:ext cx="247802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9"/>
          <p:cNvSpPr txBox="1"/>
          <p:nvPr/>
        </p:nvSpPr>
        <p:spPr>
          <a:xfrm>
            <a:off x="6915607" y="4895698"/>
            <a:ext cx="40005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[ скриншот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9" title="Screenshot 2026-07-16 154716.png"/>
          <p:cNvPicPr preferRelativeResize="0"/>
          <p:nvPr/>
        </p:nvPicPr>
        <p:blipFill rotWithShape="1">
          <a:blip r:embed="rId8">
            <a:alphaModFix/>
          </a:blip>
          <a:srcRect b="0" l="-1395" r="10815" t="0"/>
          <a:stretch/>
        </p:blipFill>
        <p:spPr>
          <a:xfrm>
            <a:off x="600300" y="3333764"/>
            <a:ext cx="5334600" cy="270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9" title="Screenshot 2026-07-16 154704.png"/>
          <p:cNvPicPr preferRelativeResize="0"/>
          <p:nvPr/>
        </p:nvPicPr>
        <p:blipFill rotWithShape="1">
          <a:blip r:embed="rId9">
            <a:alphaModFix/>
          </a:blip>
          <a:srcRect b="7905" l="5510" r="-5510" t="7905"/>
          <a:stretch/>
        </p:blipFill>
        <p:spPr>
          <a:xfrm>
            <a:off x="6295875" y="3431613"/>
            <a:ext cx="5219854" cy="250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